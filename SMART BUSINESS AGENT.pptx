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9" roundtripDataSignature="AMtx7mh1J/4/EumR3tBMMiM0Hh/pCR/az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5C32719-CA2B-4608-B02F-0D476E8A6FB6}">
  <a:tblStyle styleId="{D5C32719-CA2B-4608-B02F-0D476E8A6FB6}"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customschemas.google.com/relationships/presentationmetadata" Target="metadata"/><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2" name="Google Shape;92;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8" name="Google Shape;98;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4" name="Google Shape;104;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0" name="Google Shape;110;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7" name="Google Shape;117;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3" name="Google Shape;123;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0" name="Google Shape;130;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6" name="Google Shape;136;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2" name="Google Shape;142;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1" name="Google Shape;151;p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9" name="Google Shape;159;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 name="Shape 11"/>
        <p:cNvGrpSpPr/>
        <p:nvPr/>
      </p:nvGrpSpPr>
      <p:grpSpPr>
        <a:xfrm>
          <a:off x="0" y="0"/>
          <a:ext cx="0" cy="0"/>
          <a:chOff x="0" y="0"/>
          <a:chExt cx="0" cy="0"/>
        </a:xfrm>
      </p:grpSpPr>
      <p:sp>
        <p:nvSpPr>
          <p:cNvPr id="12" name="Google Shape;12;p2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4" name="Google Shape;14;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3" name="Shape 23"/>
        <p:cNvGrpSpPr/>
        <p:nvPr/>
      </p:nvGrpSpPr>
      <p:grpSpPr>
        <a:xfrm>
          <a:off x="0" y="0"/>
          <a:ext cx="0" cy="0"/>
          <a:chOff x="0" y="0"/>
          <a:chExt cx="0" cy="0"/>
        </a:xfrm>
      </p:grpSpPr>
      <p:sp>
        <p:nvSpPr>
          <p:cNvPr id="24" name="Google Shape;24;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p2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0" name="Shape 30"/>
        <p:cNvGrpSpPr/>
        <p:nvPr/>
      </p:nvGrpSpPr>
      <p:grpSpPr>
        <a:xfrm>
          <a:off x="0" y="0"/>
          <a:ext cx="0" cy="0"/>
          <a:chOff x="0" y="0"/>
          <a:chExt cx="0" cy="0"/>
        </a:xfrm>
      </p:grpSpPr>
      <p:sp>
        <p:nvSpPr>
          <p:cNvPr id="31" name="Google Shape;31;p2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3" name="Google Shape;33;p2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2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5" name="Google Shape;35;p2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9" name="Shape 39"/>
        <p:cNvGrpSpPr/>
        <p:nvPr/>
      </p:nvGrpSpPr>
      <p:grpSpPr>
        <a:xfrm>
          <a:off x="0" y="0"/>
          <a:ext cx="0" cy="0"/>
          <a:chOff x="0" y="0"/>
          <a:chExt cx="0" cy="0"/>
        </a:xfrm>
      </p:grpSpPr>
      <p:sp>
        <p:nvSpPr>
          <p:cNvPr id="40" name="Google Shape;40;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4" name="Shape 44"/>
        <p:cNvGrpSpPr/>
        <p:nvPr/>
      </p:nvGrpSpPr>
      <p:grpSpPr>
        <a:xfrm>
          <a:off x="0" y="0"/>
          <a:ext cx="0" cy="0"/>
          <a:chOff x="0" y="0"/>
          <a:chExt cx="0" cy="0"/>
        </a:xfrm>
      </p:grpSpPr>
      <p:sp>
        <p:nvSpPr>
          <p:cNvPr id="45" name="Google Shape;45;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8" name="Shape 48"/>
        <p:cNvGrpSpPr/>
        <p:nvPr/>
      </p:nvGrpSpPr>
      <p:grpSpPr>
        <a:xfrm>
          <a:off x="0" y="0"/>
          <a:ext cx="0" cy="0"/>
          <a:chOff x="0" y="0"/>
          <a:chExt cx="0" cy="0"/>
        </a:xfrm>
      </p:grpSpPr>
      <p:sp>
        <p:nvSpPr>
          <p:cNvPr id="49" name="Google Shape;49;p2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2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1" name="Google Shape;51;p2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2" name="Google Shape;52;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5" name="Shape 55"/>
        <p:cNvGrpSpPr/>
        <p:nvPr/>
      </p:nvGrpSpPr>
      <p:grpSpPr>
        <a:xfrm>
          <a:off x="0" y="0"/>
          <a:ext cx="0" cy="0"/>
          <a:chOff x="0" y="0"/>
          <a:chExt cx="0" cy="0"/>
        </a:xfrm>
      </p:grpSpPr>
      <p:sp>
        <p:nvSpPr>
          <p:cNvPr id="56" name="Google Shape;56;p3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0"/>
          <p:cNvSpPr/>
          <p:nvPr>
            <p:ph idx="2" type="pic"/>
          </p:nvPr>
        </p:nvSpPr>
        <p:spPr>
          <a:xfrm>
            <a:off x="5183188" y="987425"/>
            <a:ext cx="6172200" cy="4873625"/>
          </a:xfrm>
          <a:prstGeom prst="rect">
            <a:avLst/>
          </a:prstGeom>
          <a:noFill/>
          <a:ln>
            <a:noFill/>
          </a:ln>
        </p:spPr>
      </p:sp>
      <p:sp>
        <p:nvSpPr>
          <p:cNvPr id="58" name="Google Shape;58;p3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9" name="Google Shape;59;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2" name="Shape 62"/>
        <p:cNvGrpSpPr/>
        <p:nvPr/>
      </p:nvGrpSpPr>
      <p:grpSpPr>
        <a:xfrm>
          <a:off x="0" y="0"/>
          <a:ext cx="0" cy="0"/>
          <a:chOff x="0" y="0"/>
          <a:chExt cx="0" cy="0"/>
        </a:xfrm>
      </p:grpSpPr>
      <p:sp>
        <p:nvSpPr>
          <p:cNvPr id="63" name="Google Shape;63;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 name="Google Shape;65;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8" name="Shape 68"/>
        <p:cNvGrpSpPr/>
        <p:nvPr/>
      </p:nvGrpSpPr>
      <p:grpSpPr>
        <a:xfrm>
          <a:off x="0" y="0"/>
          <a:ext cx="0" cy="0"/>
          <a:chOff x="0" y="0"/>
          <a:chExt cx="0" cy="0"/>
        </a:xfrm>
      </p:grpSpPr>
      <p:sp>
        <p:nvSpPr>
          <p:cNvPr id="69" name="Google Shape;69;p3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1.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hyperlink" Target="https://trends.google.com?utm_source=chatgpt.com"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33"/>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SzPts val="6000"/>
              <a:buNone/>
            </a:pPr>
            <a:r>
              <a:rPr b="1" lang="en-US" sz="6600"/>
              <a:t>IBM University Engagement Project Submission</a:t>
            </a:r>
            <a:br>
              <a:rPr b="1" lang="en-US"/>
            </a:br>
            <a:endParaRPr/>
          </a:p>
        </p:txBody>
      </p:sp>
      <p:sp>
        <p:nvSpPr>
          <p:cNvPr id="79" name="Google Shape;79;p33"/>
          <p:cNvSpPr txBox="1"/>
          <p:nvPr>
            <p:ph idx="1" type="body"/>
          </p:nvPr>
        </p:nvSpPr>
        <p:spPr>
          <a:xfrm>
            <a:off x="1014730" y="3903663"/>
            <a:ext cx="10515600" cy="1500187"/>
          </a:xfrm>
          <a:prstGeom prst="rect">
            <a:avLst/>
          </a:prstGeom>
          <a:noFill/>
          <a:ln>
            <a:noFill/>
          </a:ln>
        </p:spPr>
        <p:txBody>
          <a:bodyPr anchorCtr="0" anchor="t" bIns="45700" lIns="91425" spcFirstLastPara="1" rIns="91425" wrap="square" tIns="45700">
            <a:normAutofit/>
          </a:bodyPr>
          <a:lstStyle/>
          <a:p>
            <a:pPr indent="-228600" lvl="0" marL="457200" rtl="0" algn="ctr">
              <a:lnSpc>
                <a:spcPct val="90000"/>
              </a:lnSpc>
              <a:spcBef>
                <a:spcPts val="1000"/>
              </a:spcBef>
              <a:spcAft>
                <a:spcPts val="0"/>
              </a:spcAft>
              <a:buSzPts val="2400"/>
              <a:buNone/>
            </a:pPr>
            <a:r>
              <a:rPr b="1" lang="en-US" sz="3100">
                <a:solidFill>
                  <a:schemeClr val="dk1"/>
                </a:solidFill>
                <a:latin typeface="Arial"/>
                <a:ea typeface="Arial"/>
                <a:cs typeface="Arial"/>
                <a:sym typeface="Arial"/>
              </a:rPr>
              <a:t>Smart Business Idea Generator Agent</a:t>
            </a:r>
            <a:r>
              <a:rPr lang="en-US" sz="3100">
                <a:solidFill>
                  <a:schemeClr val="dk1"/>
                </a:solidFill>
                <a:latin typeface="Arial"/>
                <a:ea typeface="Arial"/>
                <a:cs typeface="Arial"/>
                <a:sym typeface="Arial"/>
              </a:rPr>
              <a:t> </a:t>
            </a:r>
            <a:endParaRPr sz="44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2"/>
          <p:cNvSpPr/>
          <p:nvPr/>
        </p:nvSpPr>
        <p:spPr>
          <a:xfrm>
            <a:off x="690624" y="4425370"/>
            <a:ext cx="10795794" cy="19923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chemeClr val="dk1"/>
              </a:buClr>
              <a:buSzPts val="1500"/>
              <a:buFont typeface="Calibri"/>
              <a:buNone/>
            </a:pPr>
            <a:r>
              <a:t/>
            </a:r>
            <a:endParaRPr b="0" i="0" sz="1500" u="none" cap="none" strike="noStrike">
              <a:solidFill>
                <a:schemeClr val="dk1"/>
              </a:solidFill>
              <a:latin typeface="Times New Roman"/>
              <a:ea typeface="Times New Roman"/>
              <a:cs typeface="Times New Roman"/>
              <a:sym typeface="Times New Roman"/>
            </a:endParaRPr>
          </a:p>
        </p:txBody>
      </p:sp>
      <p:sp>
        <p:nvSpPr>
          <p:cNvPr id="85" name="Google Shape;85;p2"/>
          <p:cNvSpPr txBox="1"/>
          <p:nvPr/>
        </p:nvSpPr>
        <p:spPr>
          <a:xfrm>
            <a:off x="1102321" y="1174639"/>
            <a:ext cx="7426406" cy="451519"/>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2060"/>
              </a:buClr>
              <a:buSzPts val="3200"/>
              <a:buFont typeface="Times New Roman"/>
              <a:buNone/>
            </a:pPr>
            <a:r>
              <a:t/>
            </a:r>
            <a:endParaRPr b="1" i="0" sz="3200" u="none" cap="none" strike="noStrike">
              <a:solidFill>
                <a:srgbClr val="002060"/>
              </a:solidFill>
              <a:latin typeface="Times New Roman"/>
              <a:ea typeface="Times New Roman"/>
              <a:cs typeface="Times New Roman"/>
              <a:sym typeface="Times New Roman"/>
            </a:endParaRPr>
          </a:p>
        </p:txBody>
      </p:sp>
      <p:graphicFrame>
        <p:nvGraphicFramePr>
          <p:cNvPr id="86" name="Google Shape;86;p2"/>
          <p:cNvGraphicFramePr/>
          <p:nvPr/>
        </p:nvGraphicFramePr>
        <p:xfrm>
          <a:off x="1102307" y="2600315"/>
          <a:ext cx="3000000" cy="3000000"/>
        </p:xfrm>
        <a:graphic>
          <a:graphicData uri="http://schemas.openxmlformats.org/drawingml/2006/table">
            <a:tbl>
              <a:tblPr>
                <a:noFill/>
                <a:tableStyleId>{D5C32719-CA2B-4608-B02F-0D476E8A6FB6}</a:tableStyleId>
              </a:tblPr>
              <a:tblGrid>
                <a:gridCol w="2832475"/>
                <a:gridCol w="2219775"/>
                <a:gridCol w="2738225"/>
                <a:gridCol w="2738225"/>
              </a:tblGrid>
              <a:tr h="1120050">
                <a:tc>
                  <a:txBody>
                    <a:bodyPr/>
                    <a:lstStyle/>
                    <a:p>
                      <a:pPr indent="0" lvl="0" marL="0" marR="0" rtl="0" algn="ctr">
                        <a:lnSpc>
                          <a:spcPct val="100000"/>
                        </a:lnSpc>
                        <a:spcBef>
                          <a:spcPts val="0"/>
                        </a:spcBef>
                        <a:spcAft>
                          <a:spcPts val="0"/>
                        </a:spcAft>
                        <a:buClr>
                          <a:srgbClr val="000000"/>
                        </a:buClr>
                        <a:buSzPts val="1800"/>
                        <a:buFont typeface="Arial"/>
                        <a:buNone/>
                      </a:pPr>
                      <a:r>
                        <a:rPr lang="en-US" sz="1800"/>
                        <a:t>Faculty</a:t>
                      </a:r>
                      <a:r>
                        <a:rPr lang="en-US" sz="1800" u="none" cap="none" strike="noStrike"/>
                        <a:t> Name</a:t>
                      </a:r>
                      <a:endParaRPr sz="1800" u="none" cap="none" strike="noStrike"/>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Recent Passport Photo</a:t>
                      </a:r>
                      <a:endParaRPr sz="1800" u="none" cap="none" strike="noStrike"/>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Email ID </a:t>
                      </a:r>
                      <a:endParaRPr b="0" i="0" sz="1800" u="none" cap="none" strike="noStrike">
                        <a:solidFill>
                          <a:srgbClr val="000000"/>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chemeClr val="lt1"/>
                        </a:buClr>
                        <a:buSzPts val="1800"/>
                        <a:buFont typeface="Calibri"/>
                        <a:buNone/>
                      </a:pPr>
                      <a:r>
                        <a:rPr b="0" i="0" lang="en-US" sz="1800" u="none" cap="none" strike="noStrike">
                          <a:solidFill>
                            <a:srgbClr val="000000"/>
                          </a:solidFill>
                          <a:latin typeface="Arial"/>
                          <a:ea typeface="Arial"/>
                          <a:cs typeface="Arial"/>
                          <a:sym typeface="Arial"/>
                        </a:rPr>
                        <a:t>Mobile number</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lt1"/>
                        </a:buClr>
                        <a:buSzPts val="1800"/>
                        <a:buFont typeface="Calibri"/>
                        <a:buNone/>
                      </a:pPr>
                      <a:r>
                        <a:rPr b="0" i="0" lang="en-US" sz="1800" u="none" cap="none" strike="noStrike">
                          <a:solidFill>
                            <a:srgbClr val="000000"/>
                          </a:solidFill>
                          <a:latin typeface="Arial"/>
                          <a:ea typeface="Arial"/>
                          <a:cs typeface="Arial"/>
                          <a:sym typeface="Arial"/>
                        </a:rPr>
                        <a:t>[WhatsApp] </a:t>
                      </a:r>
                      <a:endParaRPr b="0" i="0" sz="1800" u="none" cap="none" strike="noStrike">
                        <a:solidFill>
                          <a:srgbClr val="000000"/>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r>
              <a:tr h="1879750">
                <a:tc>
                  <a:txBody>
                    <a:bodyPr/>
                    <a:lstStyle/>
                    <a:p>
                      <a:pPr indent="0" lvl="0" marL="0" marR="0" rtl="0" algn="l">
                        <a:lnSpc>
                          <a:spcPct val="100000"/>
                        </a:lnSpc>
                        <a:spcBef>
                          <a:spcPts val="0"/>
                        </a:spcBef>
                        <a:spcAft>
                          <a:spcPts val="0"/>
                        </a:spcAft>
                        <a:buClr>
                          <a:srgbClr val="000000"/>
                        </a:buClr>
                        <a:buSzPts val="1400"/>
                        <a:buFont typeface="Arial"/>
                        <a:buNone/>
                      </a:pPr>
                      <a:r>
                        <a:rPr b="1" lang="en-US"/>
                        <a:t>PRAMILA VIKAS BHAGWAT</a:t>
                      </a:r>
                      <a:endParaRPr b="1" sz="14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en-US" sz="1500"/>
                        <a:t>pramilabhagwat1980@gmail.com</a:t>
                      </a:r>
                      <a:endParaRPr b="1" sz="15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en-US" sz="1600"/>
                        <a:t>7498035232</a:t>
                      </a:r>
                      <a:endParaRPr b="1" sz="16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r>
            </a:tbl>
          </a:graphicData>
        </a:graphic>
      </p:graphicFrame>
      <p:sp>
        <p:nvSpPr>
          <p:cNvPr id="87" name="Google Shape;87;p2"/>
          <p:cNvSpPr txBox="1"/>
          <p:nvPr/>
        </p:nvSpPr>
        <p:spPr>
          <a:xfrm>
            <a:off x="1206164" y="1460724"/>
            <a:ext cx="102804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Domain of  Project – </a:t>
            </a:r>
            <a:r>
              <a:rPr b="1" lang="en-US" sz="2400"/>
              <a:t>Business</a:t>
            </a:r>
            <a:endParaRPr b="1" i="0" sz="2400" u="none" cap="none" strike="noStrike">
              <a:solidFill>
                <a:srgbClr val="000000"/>
              </a:solidFill>
              <a:latin typeface="Arial"/>
              <a:ea typeface="Arial"/>
              <a:cs typeface="Arial"/>
              <a:sym typeface="Arial"/>
            </a:endParaRPr>
          </a:p>
        </p:txBody>
      </p:sp>
      <p:sp>
        <p:nvSpPr>
          <p:cNvPr id="88" name="Google Shape;88;p2"/>
          <p:cNvSpPr txBox="1"/>
          <p:nvPr/>
        </p:nvSpPr>
        <p:spPr>
          <a:xfrm>
            <a:off x="1206162" y="551965"/>
            <a:ext cx="9581177"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Project Tile – </a:t>
            </a:r>
            <a:r>
              <a:rPr b="1" lang="en-US" sz="2400">
                <a:highlight>
                  <a:schemeClr val="lt1"/>
                </a:highlight>
              </a:rPr>
              <a:t>Smart Business Idea Generator Agent </a:t>
            </a:r>
            <a:endParaRPr b="1" i="0" sz="2400" u="none" cap="none" strike="noStrike">
              <a:solidFill>
                <a:srgbClr val="000000"/>
              </a:solidFill>
              <a:highlight>
                <a:schemeClr val="lt1"/>
              </a:highlight>
              <a:latin typeface="Arial"/>
              <a:ea typeface="Arial"/>
              <a:cs typeface="Arial"/>
              <a:sym typeface="Arial"/>
            </a:endParaRPr>
          </a:p>
        </p:txBody>
      </p:sp>
      <p:pic>
        <p:nvPicPr>
          <p:cNvPr id="89" name="Google Shape;89;p2"/>
          <p:cNvPicPr preferRelativeResize="0"/>
          <p:nvPr/>
        </p:nvPicPr>
        <p:blipFill>
          <a:blip r:embed="rId3">
            <a:alphaModFix/>
          </a:blip>
          <a:stretch>
            <a:fillRect/>
          </a:stretch>
        </p:blipFill>
        <p:spPr>
          <a:xfrm>
            <a:off x="4324050" y="3861525"/>
            <a:ext cx="1249025" cy="15119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34"/>
          <p:cNvSpPr txBox="1"/>
          <p:nvPr/>
        </p:nvSpPr>
        <p:spPr>
          <a:xfrm>
            <a:off x="576075" y="852799"/>
            <a:ext cx="10607100" cy="6464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100" u="none" cap="none" strike="noStrike">
                <a:solidFill>
                  <a:srgbClr val="000000"/>
                </a:solidFill>
                <a:latin typeface="Arial"/>
                <a:ea typeface="Arial"/>
                <a:cs typeface="Arial"/>
                <a:sym typeface="Arial"/>
              </a:rPr>
              <a:t>Problem Statement : </a:t>
            </a:r>
            <a:r>
              <a:rPr b="1" lang="en-US" sz="2100"/>
              <a:t>Smart Business Idea Generator Agent </a:t>
            </a:r>
            <a:endParaRPr sz="2100"/>
          </a:p>
          <a:p>
            <a:pPr indent="0" lvl="0" marL="0" marR="0" rtl="0" algn="l">
              <a:lnSpc>
                <a:spcPct val="100000"/>
              </a:lnSpc>
              <a:spcBef>
                <a:spcPts val="0"/>
              </a:spcBef>
              <a:spcAft>
                <a:spcPts val="0"/>
              </a:spcAft>
              <a:buNone/>
            </a:pPr>
            <a:r>
              <a:t/>
            </a:r>
            <a:endParaRPr b="1" i="0" sz="2100" u="none" cap="none" strike="noStrike">
              <a:solidFill>
                <a:srgbClr val="000000"/>
              </a:solidFill>
              <a:latin typeface="Arial"/>
              <a:ea typeface="Arial"/>
              <a:cs typeface="Arial"/>
              <a:sym typeface="Arial"/>
            </a:endParaRPr>
          </a:p>
          <a:p>
            <a:pPr indent="0" lvl="0" marL="0" rtl="0" algn="l">
              <a:spcBef>
                <a:spcPts val="0"/>
              </a:spcBef>
              <a:spcAft>
                <a:spcPts val="0"/>
              </a:spcAft>
              <a:buNone/>
            </a:pPr>
            <a:r>
              <a:rPr b="1" lang="en-US" sz="2000"/>
              <a:t>The Challenge</a:t>
            </a:r>
            <a:endParaRPr b="1" sz="2000"/>
          </a:p>
          <a:p>
            <a:pPr indent="-336550" lvl="0" marL="457200" rtl="0" algn="just">
              <a:spcBef>
                <a:spcPts val="0"/>
              </a:spcBef>
              <a:spcAft>
                <a:spcPts val="0"/>
              </a:spcAft>
              <a:buSzPts val="1700"/>
              <a:buChar char="•"/>
            </a:pPr>
            <a:r>
              <a:rPr b="1" lang="en-US" sz="1700"/>
              <a:t>In the digital era, innovation is crucial, but individuals, students, researchers, and organizations often struggle with idea generation. Brainstorming sessions are unstructured, inspiration is scattered across articles, videos, and social media, and existing tools focus on text-only prompts without context-awareness. The challenge is not just to suggest random ideas but to synthesize creativity, context, and relevance into intelligent, actionable ideas for diverse domains such as startups, research, content creation, or product development.</a:t>
            </a:r>
            <a:endParaRPr b="1" sz="1700"/>
          </a:p>
          <a:p>
            <a:pPr indent="0" lvl="0" marL="457200" rtl="0" algn="just">
              <a:spcBef>
                <a:spcPts val="0"/>
              </a:spcBef>
              <a:spcAft>
                <a:spcPts val="0"/>
              </a:spcAft>
              <a:buNone/>
            </a:pPr>
            <a:r>
              <a:t/>
            </a:r>
            <a:endParaRPr b="1" sz="1700"/>
          </a:p>
          <a:p>
            <a:pPr indent="0" lvl="0" marL="0" rtl="0" algn="l">
              <a:spcBef>
                <a:spcPts val="0"/>
              </a:spcBef>
              <a:spcAft>
                <a:spcPts val="0"/>
              </a:spcAft>
              <a:buNone/>
            </a:pPr>
            <a:r>
              <a:rPr b="1" lang="en-US" sz="2100"/>
              <a:t>The Objective</a:t>
            </a:r>
            <a:endParaRPr b="1" sz="2100"/>
          </a:p>
          <a:p>
            <a:pPr indent="-336550" lvl="0" marL="457200" rtl="0" algn="l">
              <a:spcBef>
                <a:spcPts val="0"/>
              </a:spcBef>
              <a:spcAft>
                <a:spcPts val="0"/>
              </a:spcAft>
              <a:buSzPts val="1700"/>
              <a:buChar char="•"/>
            </a:pPr>
            <a:r>
              <a:rPr b="1" lang="en-US" sz="1700"/>
              <a:t>Build an agentic AI Smart Idea Generator that empowers users with contextual, innovative, and multimodal ideation. The solution should:</a:t>
            </a:r>
            <a:endParaRPr b="1" sz="1700"/>
          </a:p>
          <a:p>
            <a:pPr indent="-336550" lvl="0" marL="457200" rtl="0" algn="l">
              <a:spcBef>
                <a:spcPts val="0"/>
              </a:spcBef>
              <a:spcAft>
                <a:spcPts val="0"/>
              </a:spcAft>
              <a:buSzPts val="1700"/>
              <a:buChar char="•"/>
            </a:pPr>
            <a:r>
              <a:rPr b="1" lang="en-US" sz="1700"/>
              <a:t>Fuse Knowledge Sources: Pull insights from articles, research papers, trend analysis, and social platforms to generate contextual and current ideas.</a:t>
            </a:r>
            <a:endParaRPr b="1" sz="1700"/>
          </a:p>
          <a:p>
            <a:pPr indent="-336550" lvl="0" marL="457200" rtl="0" algn="l">
              <a:spcBef>
                <a:spcPts val="0"/>
              </a:spcBef>
              <a:spcAft>
                <a:spcPts val="0"/>
              </a:spcAft>
              <a:buSzPts val="1700"/>
              <a:buChar char="•"/>
            </a:pPr>
            <a:r>
              <a:rPr b="1" lang="en-US" sz="1700"/>
              <a:t>Enable Multimodal Brainstorming: Accept inputs like text prompts, images (e.g., product sketches), or voice notes and refine them into structured, creative suggestions.</a:t>
            </a:r>
            <a:endParaRPr b="1" sz="1700"/>
          </a:p>
          <a:p>
            <a:pPr indent="-336550" lvl="0" marL="457200" rtl="0" algn="l">
              <a:spcBef>
                <a:spcPts val="0"/>
              </a:spcBef>
              <a:spcAft>
                <a:spcPts val="0"/>
              </a:spcAft>
              <a:buSzPts val="1700"/>
              <a:buChar char="•"/>
            </a:pPr>
            <a:r>
              <a:rPr b="1" lang="en-US" sz="1700"/>
              <a:t>Create a Predictive &amp; Agentic Layer: Identify trending domains (e.g., AI in healthcare, sustainable energy), forecast idea relevance, and recommend high-impact directions.</a:t>
            </a:r>
            <a:endParaRPr b="1" sz="1700"/>
          </a:p>
          <a:p>
            <a:pPr indent="-336550" lvl="0" marL="457200" rtl="0" algn="l">
              <a:spcBef>
                <a:spcPts val="0"/>
              </a:spcBef>
              <a:spcAft>
                <a:spcPts val="0"/>
              </a:spcAft>
              <a:buSzPts val="1700"/>
              <a:buChar char="•"/>
            </a:pPr>
            <a:r>
              <a:rPr b="1" lang="en-US" sz="1700"/>
              <a:t>Visualize Idea Maps: Provide an interactive dashboard that organizes ideas into categories, impact scores, and feasibility maps, helping users explore and refine concepts quickly.</a:t>
            </a:r>
            <a:endParaRPr b="1" sz="1700"/>
          </a:p>
          <a:p>
            <a:pPr indent="0" lvl="0" marL="457200" rtl="0" algn="l">
              <a:spcBef>
                <a:spcPts val="0"/>
              </a:spcBef>
              <a:spcAft>
                <a:spcPts val="0"/>
              </a:spcAft>
              <a:buNone/>
            </a:pPr>
            <a:r>
              <a:t/>
            </a:r>
            <a:endParaRPr b="1"/>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5" name="Google Shape;95;p34"/>
          <p:cNvSpPr txBox="1"/>
          <p:nvPr/>
        </p:nvSpPr>
        <p:spPr>
          <a:xfrm>
            <a:off x="576072" y="102713"/>
            <a:ext cx="72147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Problem Statement -</a:t>
            </a:r>
            <a:endParaRPr b="1" i="0" sz="2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35"/>
          <p:cNvSpPr txBox="1"/>
          <p:nvPr/>
        </p:nvSpPr>
        <p:spPr>
          <a:xfrm>
            <a:off x="667512" y="1165753"/>
            <a:ext cx="10607100" cy="1970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lang="en-US" sz="1900">
                <a:solidFill>
                  <a:schemeClr val="dk1"/>
                </a:solidFill>
              </a:rPr>
              <a:t>IBM Watsonx</a:t>
            </a:r>
            <a:r>
              <a:rPr b="1" lang="en-US" sz="1900">
                <a:solidFill>
                  <a:schemeClr val="dk1"/>
                </a:solidFill>
              </a:rPr>
              <a:t>/ IBM Orchestrate + IBM Models</a:t>
            </a:r>
            <a:endParaRPr b="1" sz="1900">
              <a:solidFill>
                <a:schemeClr val="dk1"/>
              </a:solidFill>
            </a:endParaRPr>
          </a:p>
          <a:p>
            <a:pPr indent="0" lvl="0" marL="0" marR="0" rtl="0" algn="l">
              <a:lnSpc>
                <a:spcPct val="100000"/>
              </a:lnSpc>
              <a:spcBef>
                <a:spcPts val="0"/>
              </a:spcBef>
              <a:spcAft>
                <a:spcPts val="0"/>
              </a:spcAft>
              <a:buNone/>
            </a:pPr>
            <a:r>
              <a:t/>
            </a:r>
            <a:endParaRPr sz="1900"/>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196850" lvl="0" marL="28575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1" name="Google Shape;101;p35"/>
          <p:cNvSpPr txBox="1"/>
          <p:nvPr/>
        </p:nvSpPr>
        <p:spPr>
          <a:xfrm>
            <a:off x="576072" y="704088"/>
            <a:ext cx="721461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Technology Used </a:t>
            </a:r>
            <a:endParaRPr b="1" i="0" sz="2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36"/>
          <p:cNvSpPr txBox="1"/>
          <p:nvPr/>
        </p:nvSpPr>
        <p:spPr>
          <a:xfrm>
            <a:off x="633897" y="263740"/>
            <a:ext cx="10607100" cy="7138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900" u="none" cap="none" strike="noStrike">
                <a:solidFill>
                  <a:srgbClr val="000000"/>
                </a:solidFill>
                <a:latin typeface="Arial"/>
                <a:ea typeface="Arial"/>
                <a:cs typeface="Arial"/>
                <a:sym typeface="Arial"/>
              </a:rPr>
              <a:t>Proposed Solution: AI-</a:t>
            </a:r>
            <a:r>
              <a:rPr b="1" lang="en-US" sz="2100">
                <a:solidFill>
                  <a:schemeClr val="dk1"/>
                </a:solidFill>
              </a:rPr>
              <a:t>Smart Business Idea Generator Agent </a:t>
            </a:r>
            <a:endParaRPr sz="2100">
              <a:solidFill>
                <a:schemeClr val="dk1"/>
              </a:solidFill>
            </a:endParaRPr>
          </a:p>
          <a:p>
            <a:pPr indent="0" lvl="0" marL="0" marR="0" rtl="0" algn="l">
              <a:lnSpc>
                <a:spcPct val="100000"/>
              </a:lnSpc>
              <a:spcBef>
                <a:spcPts val="0"/>
              </a:spcBef>
              <a:spcAft>
                <a:spcPts val="0"/>
              </a:spcAft>
              <a:buNone/>
            </a:pPr>
            <a:r>
              <a:t/>
            </a:r>
            <a:endParaRPr b="1" sz="1900"/>
          </a:p>
          <a:p>
            <a:pPr indent="0" lvl="0" marL="0" rtl="0" algn="l">
              <a:lnSpc>
                <a:spcPct val="115000"/>
              </a:lnSpc>
              <a:spcBef>
                <a:spcPts val="1200"/>
              </a:spcBef>
              <a:spcAft>
                <a:spcPts val="0"/>
              </a:spcAft>
              <a:buClr>
                <a:schemeClr val="dk1"/>
              </a:buClr>
              <a:buSzPts val="1100"/>
              <a:buFont typeface="Arial"/>
              <a:buNone/>
            </a:pPr>
            <a:r>
              <a:rPr lang="en-US" sz="1500">
                <a:solidFill>
                  <a:schemeClr val="dk1"/>
                </a:solidFill>
              </a:rPr>
              <a:t>The </a:t>
            </a:r>
            <a:r>
              <a:rPr b="1" lang="en-US" sz="1500">
                <a:solidFill>
                  <a:schemeClr val="dk1"/>
                </a:solidFill>
              </a:rPr>
              <a:t>Smart Business Idea Generator Agent</a:t>
            </a:r>
            <a:r>
              <a:rPr lang="en-US" sz="1500">
                <a:solidFill>
                  <a:schemeClr val="dk1"/>
                </a:solidFill>
              </a:rPr>
              <a:t> is an AI-powered system designed to help people identify the best business opportunities based on their personal skills, interests, available budget, and current market trends. Many individuals want to start a business, but they often face difficulties in choosing the right idea because they lack proper guidance, market knowledge, or understanding of profitable opportunities. This creates confusion and increases the risk of failure.</a:t>
            </a:r>
            <a:endParaRPr sz="15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500">
                <a:solidFill>
                  <a:schemeClr val="dk1"/>
                </a:solidFill>
              </a:rPr>
              <a:t>To solve this problem, the Smart Business Idea Generator Agent works as an intelligent assistant that collects important information from users, such as their investment capacity, experience, interests, preferred industry, and business goals. After analyzing this information, the agent studies market demand and identifies business opportunities that have strong profit potential and future growth.</a:t>
            </a:r>
            <a:endParaRPr sz="15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500">
                <a:solidFill>
                  <a:schemeClr val="dk1"/>
                </a:solidFill>
              </a:rPr>
              <a:t>The system then generates personalized business ideas that match the user’s situation. It can recommend different types of businesses such as online businesses, small startups, service-based businesses, e-commerce stores, technology startups, freelance businesses, and side hustle opportunities. Along with idea generation, the agent also provides suggestions about target customers, estimated startup cost, expected profit, competition level, and possible risks.</a:t>
            </a:r>
            <a:endParaRPr sz="15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500">
                <a:solidFill>
                  <a:schemeClr val="dk1"/>
                </a:solidFill>
              </a:rPr>
              <a:t>In addition, the agent helps users understand how to start the business by providing step-by-step guidance, suitable business models, marketing strategies, and growth plans. It also helps users validate whether the business idea is practical and sustainable in the current market.</a:t>
            </a:r>
            <a:endParaRPr sz="15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500">
                <a:solidFill>
                  <a:schemeClr val="dk1"/>
                </a:solidFill>
              </a:rPr>
              <a:t>By using artificial intelligence and market analysis, the Smart Business Idea Generator Agent reduces uncertainty, saves research time, and helps entrepreneurs make better decisions. It acts like a personal business advisor that supports users in finding innovative, profitable, and realistic business opportunities, making the journey of starting a business easier and more successful.</a:t>
            </a:r>
            <a:endParaRPr sz="1500">
              <a:solidFill>
                <a:schemeClr val="dk1"/>
              </a:solidFill>
            </a:endParaRPr>
          </a:p>
          <a:p>
            <a:pPr indent="0" lvl="0" marL="0" marR="0" rtl="0" algn="l">
              <a:lnSpc>
                <a:spcPct val="100000"/>
              </a:lnSpc>
              <a:spcBef>
                <a:spcPts val="1200"/>
              </a:spcBef>
              <a:spcAft>
                <a:spcPts val="0"/>
              </a:spcAft>
              <a:buNone/>
            </a:pPr>
            <a:r>
              <a:t/>
            </a:r>
            <a:endParaRPr/>
          </a:p>
        </p:txBody>
      </p:sp>
      <p:sp>
        <p:nvSpPr>
          <p:cNvPr id="107" name="Google Shape;107;p36"/>
          <p:cNvSpPr txBox="1"/>
          <p:nvPr/>
        </p:nvSpPr>
        <p:spPr>
          <a:xfrm>
            <a:off x="576072" y="-12"/>
            <a:ext cx="72147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Proposed Solution -</a:t>
            </a:r>
            <a:endParaRPr b="1" i="0" sz="2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38"/>
          <p:cNvSpPr/>
          <p:nvPr/>
        </p:nvSpPr>
        <p:spPr>
          <a:xfrm>
            <a:off x="537590" y="323239"/>
            <a:ext cx="5908929" cy="4485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51D3A"/>
              </a:buClr>
              <a:buSzPts val="3500"/>
              <a:buFont typeface="Times New Roman"/>
              <a:buNone/>
            </a:pPr>
            <a:r>
              <a:t/>
            </a:r>
            <a:endParaRPr b="1" i="0" sz="2400" u="none" cap="none" strike="noStrike">
              <a:solidFill>
                <a:srgbClr val="000000"/>
              </a:solidFill>
              <a:latin typeface="Arial"/>
              <a:ea typeface="Arial"/>
              <a:cs typeface="Arial"/>
              <a:sym typeface="Arial"/>
            </a:endParaRPr>
          </a:p>
        </p:txBody>
      </p:sp>
      <p:pic>
        <p:nvPicPr>
          <p:cNvPr id="113" name="Google Shape;113;p38" title="1.png"/>
          <p:cNvPicPr preferRelativeResize="0"/>
          <p:nvPr/>
        </p:nvPicPr>
        <p:blipFill>
          <a:blip r:embed="rId3">
            <a:alphaModFix/>
          </a:blip>
          <a:stretch>
            <a:fillRect/>
          </a:stretch>
        </p:blipFill>
        <p:spPr>
          <a:xfrm>
            <a:off x="105502" y="1027521"/>
            <a:ext cx="6225551" cy="4802950"/>
          </a:xfrm>
          <a:prstGeom prst="rect">
            <a:avLst/>
          </a:prstGeom>
          <a:noFill/>
          <a:ln>
            <a:noFill/>
          </a:ln>
        </p:spPr>
      </p:pic>
      <p:pic>
        <p:nvPicPr>
          <p:cNvPr id="114" name="Google Shape;114;p38" title="2.png"/>
          <p:cNvPicPr preferRelativeResize="0"/>
          <p:nvPr/>
        </p:nvPicPr>
        <p:blipFill>
          <a:blip r:embed="rId4">
            <a:alphaModFix/>
          </a:blip>
          <a:stretch>
            <a:fillRect/>
          </a:stretch>
        </p:blipFill>
        <p:spPr>
          <a:xfrm>
            <a:off x="6446525" y="203250"/>
            <a:ext cx="5734926" cy="62731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id="119" name="Google Shape;119;p7"/>
          <p:cNvPicPr preferRelativeResize="0"/>
          <p:nvPr/>
        </p:nvPicPr>
        <p:blipFill rotWithShape="1">
          <a:blip r:embed="rId3">
            <a:alphaModFix/>
          </a:blip>
          <a:srcRect b="0" l="0" r="0" t="0"/>
          <a:stretch/>
        </p:blipFill>
        <p:spPr>
          <a:xfrm>
            <a:off x="699152" y="1071448"/>
            <a:ext cx="10429095" cy="5612816"/>
          </a:xfrm>
          <a:prstGeom prst="rect">
            <a:avLst/>
          </a:prstGeom>
          <a:noFill/>
          <a:ln>
            <a:noFill/>
          </a:ln>
        </p:spPr>
      </p:pic>
      <p:sp>
        <p:nvSpPr>
          <p:cNvPr id="120" name="Google Shape;120;p7"/>
          <p:cNvSpPr/>
          <p:nvPr/>
        </p:nvSpPr>
        <p:spPr>
          <a:xfrm>
            <a:off x="537590" y="323239"/>
            <a:ext cx="5908929" cy="4485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400" u="none" cap="none" strike="noStrike">
                <a:solidFill>
                  <a:schemeClr val="dk1"/>
                </a:solidFill>
                <a:latin typeface="Calibri"/>
                <a:ea typeface="Calibri"/>
                <a:cs typeface="Calibri"/>
                <a:sym typeface="Calibri"/>
              </a:rPr>
              <a:t>Architecture blueprint</a:t>
            </a:r>
            <a:endParaRPr b="0" i="0" sz="2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pic>
        <p:nvPicPr>
          <p:cNvPr id="125" name="Google Shape;125;p9"/>
          <p:cNvPicPr preferRelativeResize="0"/>
          <p:nvPr/>
        </p:nvPicPr>
        <p:blipFill rotWithShape="1">
          <a:blip r:embed="rId3">
            <a:alphaModFix/>
          </a:blip>
          <a:srcRect b="0" l="0" r="0" t="0"/>
          <a:stretch/>
        </p:blipFill>
        <p:spPr>
          <a:xfrm>
            <a:off x="8109425" y="400150"/>
            <a:ext cx="3789475" cy="5684178"/>
          </a:xfrm>
          <a:prstGeom prst="rect">
            <a:avLst/>
          </a:prstGeom>
          <a:noFill/>
          <a:ln>
            <a:noFill/>
          </a:ln>
        </p:spPr>
      </p:pic>
      <p:sp>
        <p:nvSpPr>
          <p:cNvPr id="126" name="Google Shape;126;p9"/>
          <p:cNvSpPr txBox="1"/>
          <p:nvPr/>
        </p:nvSpPr>
        <p:spPr>
          <a:xfrm>
            <a:off x="218513" y="-11"/>
            <a:ext cx="93177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rgbClr val="000000"/>
                </a:solidFill>
                <a:latin typeface="Arial"/>
                <a:ea typeface="Arial"/>
                <a:cs typeface="Arial"/>
                <a:sym typeface="Arial"/>
              </a:rPr>
              <a:t>Role of Agentic AI in the solution </a:t>
            </a:r>
            <a:endParaRPr b="1" i="0" sz="3200" u="none" cap="none" strike="noStrike">
              <a:solidFill>
                <a:srgbClr val="000000"/>
              </a:solidFill>
              <a:latin typeface="Arial"/>
              <a:ea typeface="Arial"/>
              <a:cs typeface="Arial"/>
              <a:sym typeface="Arial"/>
            </a:endParaRPr>
          </a:p>
        </p:txBody>
      </p:sp>
      <p:sp>
        <p:nvSpPr>
          <p:cNvPr id="127" name="Google Shape;127;p9"/>
          <p:cNvSpPr txBox="1"/>
          <p:nvPr/>
        </p:nvSpPr>
        <p:spPr>
          <a:xfrm>
            <a:off x="218526" y="519875"/>
            <a:ext cx="7890900" cy="6882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Role of Agentic AI in </a:t>
            </a:r>
            <a:r>
              <a:rPr b="1" lang="en-US" sz="1500">
                <a:solidFill>
                  <a:schemeClr val="dk1"/>
                </a:solidFill>
              </a:rPr>
              <a:t>Smart Business Idea Generator Agent </a:t>
            </a:r>
            <a:endParaRPr sz="1500">
              <a:solidFill>
                <a:schemeClr val="dk1"/>
              </a:solidFill>
            </a:endParaRPr>
          </a:p>
          <a:p>
            <a:pPr indent="0" lvl="0" marL="0" marR="0" rtl="0" algn="l">
              <a:lnSpc>
                <a:spcPct val="100000"/>
              </a:lnSpc>
              <a:spcBef>
                <a:spcPts val="0"/>
              </a:spcBef>
              <a:spcAft>
                <a:spcPts val="0"/>
              </a:spcAft>
              <a:buNone/>
            </a:pPr>
            <a:r>
              <a:t/>
            </a:r>
            <a:endParaRPr b="1"/>
          </a:p>
          <a:p>
            <a:pPr indent="0" lvl="0" marL="0" rtl="0" algn="l">
              <a:lnSpc>
                <a:spcPct val="115000"/>
              </a:lnSpc>
              <a:spcBef>
                <a:spcPts val="1200"/>
              </a:spcBef>
              <a:spcAft>
                <a:spcPts val="0"/>
              </a:spcAft>
              <a:buClr>
                <a:schemeClr val="dk1"/>
              </a:buClr>
              <a:buSzPts val="1100"/>
              <a:buFont typeface="Arial"/>
              <a:buNone/>
            </a:pPr>
            <a:r>
              <a:rPr b="1" lang="en-US"/>
              <a:t>Agentic AI plays an important role in the Smart Business Idea Generator Agent by acting as an intelligent decision-making system that can understand user needs, analyze information, and provide personalized business suggestions without constant human guidance. Unlike traditional systems that only provide fixed answers, Agentic AI can think, learn, and make smart decisions based on different situations.</a:t>
            </a:r>
            <a:endParaRPr b="1"/>
          </a:p>
          <a:p>
            <a:pPr indent="0" lvl="0" marL="0" rtl="0" algn="l">
              <a:lnSpc>
                <a:spcPct val="115000"/>
              </a:lnSpc>
              <a:spcBef>
                <a:spcPts val="1200"/>
              </a:spcBef>
              <a:spcAft>
                <a:spcPts val="0"/>
              </a:spcAft>
              <a:buClr>
                <a:schemeClr val="dk1"/>
              </a:buClr>
              <a:buSzPts val="1100"/>
              <a:buFont typeface="Arial"/>
              <a:buNone/>
            </a:pPr>
            <a:r>
              <a:rPr b="1" lang="en-US"/>
              <a:t>In this solution, Agentic AI first interacts with the user and collects important details such as budget, skills, interests, experience, and business goals. It then analyzes this information and studies current market trends, customer demand, competition, and profitable business opportunities. Based on this analysis, the AI agent generates personalized business ideas that best match the user’s requirements.</a:t>
            </a:r>
            <a:endParaRPr b="1"/>
          </a:p>
          <a:p>
            <a:pPr indent="0" lvl="0" marL="0" rtl="0" algn="l">
              <a:lnSpc>
                <a:spcPct val="115000"/>
              </a:lnSpc>
              <a:spcBef>
                <a:spcPts val="1200"/>
              </a:spcBef>
              <a:spcAft>
                <a:spcPts val="0"/>
              </a:spcAft>
              <a:buClr>
                <a:schemeClr val="dk1"/>
              </a:buClr>
              <a:buSzPts val="1100"/>
              <a:buFont typeface="Arial"/>
              <a:buNone/>
            </a:pPr>
            <a:r>
              <a:rPr b="1" lang="en-US"/>
              <a:t>The agent can also compare multiple business options and suggest the most profitable and practical one. It helps users understand startup costs, target customers, risks, and future growth possibilities. If the user changes requirements, the AI can quickly adapt and provide new recommendations.</a:t>
            </a:r>
            <a:endParaRPr b="1"/>
          </a:p>
          <a:p>
            <a:pPr indent="0" lvl="0" marL="0" rtl="0" algn="l">
              <a:lnSpc>
                <a:spcPct val="115000"/>
              </a:lnSpc>
              <a:spcBef>
                <a:spcPts val="1200"/>
              </a:spcBef>
              <a:spcAft>
                <a:spcPts val="0"/>
              </a:spcAft>
              <a:buClr>
                <a:schemeClr val="dk1"/>
              </a:buClr>
              <a:buSzPts val="1100"/>
              <a:buFont typeface="Arial"/>
              <a:buNone/>
            </a:pPr>
            <a:r>
              <a:rPr b="1" lang="en-US"/>
              <a:t>Another important role of Agentic AI is continuous guidance. It not only generates business ideas but also helps in planning business models, marketing strategies, and step-by-step execution plans. The system works like a virtual business advisor that supports entrepreneurs throughout the decision-making process.</a:t>
            </a:r>
            <a:endParaRPr b="1"/>
          </a:p>
          <a:p>
            <a:pPr indent="0" lvl="0" marL="0" rtl="0" algn="l">
              <a:lnSpc>
                <a:spcPct val="115000"/>
              </a:lnSpc>
              <a:spcBef>
                <a:spcPts val="1200"/>
              </a:spcBef>
              <a:spcAft>
                <a:spcPts val="0"/>
              </a:spcAft>
              <a:buClr>
                <a:schemeClr val="dk1"/>
              </a:buClr>
              <a:buSzPts val="1100"/>
              <a:buFont typeface="Arial"/>
              <a:buNone/>
            </a:pPr>
            <a:r>
              <a:rPr b="1" lang="en-US"/>
              <a:t>By using Agentic AI, the solution becomes smarter, faster, and more personalized. It reduces confusion, saves research time, improves decision-making, and helps users confidently choose the right business opportunity for success.</a:t>
            </a:r>
            <a:endParaRPr b="1"/>
          </a:p>
          <a:p>
            <a:pPr indent="0" lvl="0" marL="0" marR="0" rtl="0" algn="l">
              <a:lnSpc>
                <a:spcPct val="100000"/>
              </a:lnSpc>
              <a:spcBef>
                <a:spcPts val="1200"/>
              </a:spcBef>
              <a:spcAft>
                <a:spcPts val="0"/>
              </a:spcAft>
              <a:buNone/>
            </a:pPr>
            <a:r>
              <a:t/>
            </a:r>
            <a:endParaRPr b="1"/>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39"/>
          <p:cNvSpPr txBox="1"/>
          <p:nvPr/>
        </p:nvSpPr>
        <p:spPr>
          <a:xfrm>
            <a:off x="777240" y="484632"/>
            <a:ext cx="712317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Technology Used</a:t>
            </a:r>
            <a:endParaRPr b="1" i="0" sz="2400" u="none" cap="none" strike="noStrike">
              <a:solidFill>
                <a:srgbClr val="000000"/>
              </a:solidFill>
              <a:latin typeface="Arial"/>
              <a:ea typeface="Arial"/>
              <a:cs typeface="Arial"/>
              <a:sym typeface="Arial"/>
            </a:endParaRPr>
          </a:p>
        </p:txBody>
      </p:sp>
      <p:sp>
        <p:nvSpPr>
          <p:cNvPr id="133" name="Google Shape;133;p39"/>
          <p:cNvSpPr txBox="1"/>
          <p:nvPr/>
        </p:nvSpPr>
        <p:spPr>
          <a:xfrm>
            <a:off x="777240" y="1207008"/>
            <a:ext cx="10515600" cy="49563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800"/>
              <a:buFont typeface="Arial"/>
              <a:buChar char="•"/>
            </a:pPr>
            <a:r>
              <a:rPr b="1" lang="en-US" sz="1800">
                <a:solidFill>
                  <a:schemeClr val="dk1"/>
                </a:solidFill>
              </a:rPr>
              <a:t>IBM</a:t>
            </a:r>
            <a:r>
              <a:rPr b="1" lang="en-US" sz="1800"/>
              <a:t> Watsonx </a:t>
            </a:r>
            <a:r>
              <a:rPr b="1" lang="en-US" sz="1800">
                <a:solidFill>
                  <a:schemeClr val="dk1"/>
                </a:solidFill>
              </a:rPr>
              <a:t>O</a:t>
            </a:r>
            <a:r>
              <a:rPr b="1" lang="en-US" sz="1800">
                <a:solidFill>
                  <a:schemeClr val="dk1"/>
                </a:solidFill>
              </a:rPr>
              <a:t>rchestrate</a:t>
            </a:r>
            <a:r>
              <a:rPr b="1" lang="en-US" sz="1500">
                <a:solidFill>
                  <a:schemeClr val="dk1"/>
                </a:solidFill>
              </a:rPr>
              <a:t> </a:t>
            </a:r>
            <a:r>
              <a:rPr b="0" i="0" lang="en-US" sz="1800" u="none" cap="none" strike="noStrike">
                <a:solidFill>
                  <a:srgbClr val="000000"/>
                </a:solidFill>
                <a:latin typeface="Arial"/>
                <a:ea typeface="Arial"/>
                <a:cs typeface="Arial"/>
                <a:sym typeface="Arial"/>
              </a:rPr>
              <a:t>-For designing and orchestrating multi-agent workflows visually</a:t>
            </a:r>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1" i="0" lang="en-US" sz="1800" u="none" cap="none" strike="noStrike">
                <a:solidFill>
                  <a:srgbClr val="000000"/>
                </a:solidFill>
                <a:latin typeface="Arial"/>
                <a:ea typeface="Arial"/>
                <a:cs typeface="Arial"/>
                <a:sym typeface="Arial"/>
              </a:rPr>
              <a:t>IBM Grainte model </a:t>
            </a:r>
            <a:r>
              <a:rPr b="0" i="0" lang="en-US" sz="1800" u="none" cap="none" strike="noStrike">
                <a:solidFill>
                  <a:srgbClr val="000000"/>
                </a:solidFill>
                <a:latin typeface="Arial"/>
                <a:ea typeface="Arial"/>
                <a:cs typeface="Arial"/>
                <a:sym typeface="Arial"/>
              </a:rPr>
              <a:t>-  for eg – ibm-granite-3-2-8b – For natural language understanding, reasoning, and personalization</a:t>
            </a:r>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1" i="0" lang="en-US" sz="1800" u="none" cap="none" strike="noStrike">
                <a:solidFill>
                  <a:srgbClr val="000000"/>
                </a:solidFill>
                <a:latin typeface="Arial"/>
                <a:ea typeface="Arial"/>
                <a:cs typeface="Arial"/>
                <a:sym typeface="Arial"/>
              </a:rPr>
              <a:t>IBM Cloud </a:t>
            </a:r>
            <a:r>
              <a:rPr b="0" i="0" lang="en-US" sz="1800" u="none" cap="none" strike="noStrike">
                <a:solidFill>
                  <a:srgbClr val="000000"/>
                </a:solidFill>
                <a:latin typeface="Arial"/>
                <a:ea typeface="Arial"/>
                <a:cs typeface="Arial"/>
                <a:sym typeface="Arial"/>
              </a:rPr>
              <a:t>– It provides the infrastructure to build, deploy, and scale the Nutrition Agent efficiently. IBM Cloud enables a </a:t>
            </a:r>
            <a:r>
              <a:rPr b="1" i="0" lang="en-US" sz="1800" u="none" cap="none" strike="noStrike">
                <a:solidFill>
                  <a:srgbClr val="000000"/>
                </a:solidFill>
                <a:latin typeface="Arial"/>
                <a:ea typeface="Arial"/>
                <a:cs typeface="Arial"/>
                <a:sym typeface="Arial"/>
              </a:rPr>
              <a:t>reliable, secure, and scalable environment</a:t>
            </a:r>
            <a:r>
              <a:rPr b="0" i="0" lang="en-US" sz="1800" u="none" cap="none" strike="noStrike">
                <a:solidFill>
                  <a:srgbClr val="000000"/>
                </a:solidFill>
                <a:latin typeface="Arial"/>
                <a:ea typeface="Arial"/>
                <a:cs typeface="Arial"/>
                <a:sym typeface="Arial"/>
              </a:rPr>
              <a:t> for deploying the Nutrition Agent.</a:t>
            </a:r>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1143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1" i="0" lang="en-US" sz="1800" u="none" cap="none" strike="noStrike">
                <a:solidFill>
                  <a:srgbClr val="000000"/>
                </a:solidFill>
                <a:latin typeface="Arial"/>
                <a:ea typeface="Arial"/>
                <a:cs typeface="Arial"/>
                <a:sym typeface="Arial"/>
              </a:rPr>
              <a:t>IBM Watsonx.ai - </a:t>
            </a:r>
            <a:r>
              <a:rPr b="0" i="0" lang="en-US" sz="1800" u="none" cap="none" strike="noStrike">
                <a:solidFill>
                  <a:srgbClr val="000000"/>
                </a:solidFill>
                <a:latin typeface="Arial"/>
                <a:ea typeface="Arial"/>
                <a:cs typeface="Arial"/>
                <a:sym typeface="Arial"/>
              </a:rPr>
              <a:t>For model deployment, embeddings, and AI governance</a:t>
            </a:r>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None/>
            </a:pPr>
            <a:r>
              <a:t/>
            </a:r>
            <a:endParaRPr b="0" i="0" sz="18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41"/>
          <p:cNvSpPr txBox="1"/>
          <p:nvPr/>
        </p:nvSpPr>
        <p:spPr>
          <a:xfrm>
            <a:off x="835065" y="218657"/>
            <a:ext cx="71232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Novelty and Uniqueness</a:t>
            </a:r>
            <a:endParaRPr b="1" i="0" sz="2400" u="none" cap="none" strike="noStrike">
              <a:solidFill>
                <a:srgbClr val="000000"/>
              </a:solidFill>
              <a:latin typeface="Arial"/>
              <a:ea typeface="Arial"/>
              <a:cs typeface="Arial"/>
              <a:sym typeface="Arial"/>
            </a:endParaRPr>
          </a:p>
        </p:txBody>
      </p:sp>
      <p:sp>
        <p:nvSpPr>
          <p:cNvPr id="139" name="Google Shape;139;p41"/>
          <p:cNvSpPr txBox="1"/>
          <p:nvPr/>
        </p:nvSpPr>
        <p:spPr>
          <a:xfrm>
            <a:off x="835065" y="1021983"/>
            <a:ext cx="11301900" cy="59106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SzPts val="1100"/>
              <a:buNone/>
            </a:pPr>
            <a:r>
              <a:rPr lang="en-US" sz="1800"/>
              <a:t>The Smart Business Idea Generator Agent is unique because it gives personalized business ideas based on user skills, interests, and budget.</a:t>
            </a:r>
            <a:endParaRPr sz="1800"/>
          </a:p>
          <a:p>
            <a:pPr indent="0" lvl="0" marL="0" rtl="0" algn="l">
              <a:spcBef>
                <a:spcPts val="0"/>
              </a:spcBef>
              <a:spcAft>
                <a:spcPts val="0"/>
              </a:spcAft>
              <a:buSzPts val="1100"/>
              <a:buNone/>
            </a:pPr>
            <a:r>
              <a:t/>
            </a:r>
            <a:endParaRPr sz="1800"/>
          </a:p>
          <a:p>
            <a:pPr indent="0" lvl="0" marL="0" rtl="0" algn="l">
              <a:spcBef>
                <a:spcPts val="0"/>
              </a:spcBef>
              <a:spcAft>
                <a:spcPts val="0"/>
              </a:spcAft>
              <a:buSzPts val="1100"/>
              <a:buNone/>
            </a:pPr>
            <a:r>
              <a:rPr lang="en-US" sz="1800"/>
              <a:t>It uses AI to analyze market trends and identify profitable opportunities.</a:t>
            </a:r>
            <a:endParaRPr sz="1800"/>
          </a:p>
          <a:p>
            <a:pPr indent="0" lvl="0" marL="0" rtl="0" algn="l">
              <a:spcBef>
                <a:spcPts val="0"/>
              </a:spcBef>
              <a:spcAft>
                <a:spcPts val="0"/>
              </a:spcAft>
              <a:buSzPts val="1100"/>
              <a:buNone/>
            </a:pPr>
            <a:r>
              <a:t/>
            </a:r>
            <a:endParaRPr sz="1800"/>
          </a:p>
          <a:p>
            <a:pPr indent="0" lvl="0" marL="0" rtl="0" algn="l">
              <a:spcBef>
                <a:spcPts val="0"/>
              </a:spcBef>
              <a:spcAft>
                <a:spcPts val="0"/>
              </a:spcAft>
              <a:buSzPts val="1100"/>
              <a:buNone/>
            </a:pPr>
            <a:r>
              <a:rPr lang="en-US" sz="1800"/>
              <a:t>Unlike traditional systems, it provides customized suggestions for each user.</a:t>
            </a:r>
            <a:endParaRPr sz="1800"/>
          </a:p>
          <a:p>
            <a:pPr indent="0" lvl="0" marL="0" rtl="0" algn="l">
              <a:spcBef>
                <a:spcPts val="0"/>
              </a:spcBef>
              <a:spcAft>
                <a:spcPts val="0"/>
              </a:spcAft>
              <a:buSzPts val="1100"/>
              <a:buNone/>
            </a:pPr>
            <a:r>
              <a:t/>
            </a:r>
            <a:endParaRPr sz="1800"/>
          </a:p>
          <a:p>
            <a:pPr indent="0" lvl="0" marL="0" rtl="0" algn="l">
              <a:spcBef>
                <a:spcPts val="0"/>
              </a:spcBef>
              <a:spcAft>
                <a:spcPts val="0"/>
              </a:spcAft>
              <a:buSzPts val="1100"/>
              <a:buNone/>
            </a:pPr>
            <a:r>
              <a:rPr lang="en-US" sz="1800"/>
              <a:t>It helps users choose business ideas with low risk and high profit potential.</a:t>
            </a:r>
            <a:endParaRPr sz="1800"/>
          </a:p>
          <a:p>
            <a:pPr indent="0" lvl="0" marL="0" rtl="0" algn="l">
              <a:spcBef>
                <a:spcPts val="0"/>
              </a:spcBef>
              <a:spcAft>
                <a:spcPts val="0"/>
              </a:spcAft>
              <a:buSzPts val="1100"/>
              <a:buNone/>
            </a:pPr>
            <a:r>
              <a:t/>
            </a:r>
            <a:endParaRPr sz="1800"/>
          </a:p>
          <a:p>
            <a:pPr indent="0" lvl="0" marL="0" rtl="0" algn="l">
              <a:spcBef>
                <a:spcPts val="0"/>
              </a:spcBef>
              <a:spcAft>
                <a:spcPts val="0"/>
              </a:spcAft>
              <a:buSzPts val="1100"/>
              <a:buNone/>
            </a:pPr>
            <a:r>
              <a:rPr lang="en-US" sz="1800"/>
              <a:t>The system can compare multiple business options intelligently.</a:t>
            </a:r>
            <a:endParaRPr sz="1800"/>
          </a:p>
          <a:p>
            <a:pPr indent="0" lvl="0" marL="0" rtl="0" algn="l">
              <a:spcBef>
                <a:spcPts val="0"/>
              </a:spcBef>
              <a:spcAft>
                <a:spcPts val="0"/>
              </a:spcAft>
              <a:buSzPts val="1100"/>
              <a:buNone/>
            </a:pPr>
            <a:r>
              <a:t/>
            </a:r>
            <a:endParaRPr sz="1800"/>
          </a:p>
          <a:p>
            <a:pPr indent="0" lvl="0" marL="0" rtl="0" algn="l">
              <a:spcBef>
                <a:spcPts val="0"/>
              </a:spcBef>
              <a:spcAft>
                <a:spcPts val="0"/>
              </a:spcAft>
              <a:buSzPts val="1100"/>
              <a:buNone/>
            </a:pPr>
            <a:r>
              <a:rPr lang="en-US" sz="1800"/>
              <a:t>It adapts when user requirements change and gives new recommendations.</a:t>
            </a:r>
            <a:endParaRPr sz="1800"/>
          </a:p>
          <a:p>
            <a:pPr indent="0" lvl="0" marL="0" rtl="0" algn="l">
              <a:spcBef>
                <a:spcPts val="0"/>
              </a:spcBef>
              <a:spcAft>
                <a:spcPts val="0"/>
              </a:spcAft>
              <a:buSzPts val="1100"/>
              <a:buNone/>
            </a:pPr>
            <a:r>
              <a:t/>
            </a:r>
            <a:endParaRPr sz="1800"/>
          </a:p>
          <a:p>
            <a:pPr indent="0" lvl="0" marL="0" rtl="0" algn="l">
              <a:spcBef>
                <a:spcPts val="0"/>
              </a:spcBef>
              <a:spcAft>
                <a:spcPts val="0"/>
              </a:spcAft>
              <a:buSzPts val="1100"/>
              <a:buNone/>
            </a:pPr>
            <a:r>
              <a:rPr lang="en-US" sz="1800"/>
              <a:t>It provides startup planning and business growth guidance.</a:t>
            </a:r>
            <a:endParaRPr sz="1800"/>
          </a:p>
          <a:p>
            <a:pPr indent="0" lvl="0" marL="0" rtl="0" algn="l">
              <a:spcBef>
                <a:spcPts val="0"/>
              </a:spcBef>
              <a:spcAft>
                <a:spcPts val="0"/>
              </a:spcAft>
              <a:buSzPts val="1100"/>
              <a:buNone/>
            </a:pPr>
            <a:r>
              <a:t/>
            </a:r>
            <a:endParaRPr sz="1800"/>
          </a:p>
          <a:p>
            <a:pPr indent="0" lvl="0" marL="0" rtl="0" algn="l">
              <a:spcBef>
                <a:spcPts val="0"/>
              </a:spcBef>
              <a:spcAft>
                <a:spcPts val="0"/>
              </a:spcAft>
              <a:buSzPts val="1100"/>
              <a:buNone/>
            </a:pPr>
            <a:r>
              <a:rPr lang="en-US" sz="1800"/>
              <a:t>It reduces time spent on market research and decision-making.</a:t>
            </a:r>
            <a:endParaRPr sz="1800"/>
          </a:p>
          <a:p>
            <a:pPr indent="0" lvl="0" marL="0" rtl="0" algn="l">
              <a:spcBef>
                <a:spcPts val="0"/>
              </a:spcBef>
              <a:spcAft>
                <a:spcPts val="0"/>
              </a:spcAft>
              <a:buSzPts val="1100"/>
              <a:buNone/>
            </a:pPr>
            <a:r>
              <a:t/>
            </a:r>
            <a:endParaRPr sz="1800"/>
          </a:p>
          <a:p>
            <a:pPr indent="0" lvl="0" marL="0" rtl="0" algn="l">
              <a:spcBef>
                <a:spcPts val="0"/>
              </a:spcBef>
              <a:spcAft>
                <a:spcPts val="0"/>
              </a:spcAft>
              <a:buSzPts val="1100"/>
              <a:buNone/>
            </a:pPr>
            <a:r>
              <a:rPr lang="en-US" sz="1800"/>
              <a:t>The use of Agentic AI makes the system smarter and more interactive.</a:t>
            </a:r>
            <a:endParaRPr sz="1800"/>
          </a:p>
          <a:p>
            <a:pPr indent="0" lvl="0" marL="0" rtl="0" algn="l">
              <a:spcBef>
                <a:spcPts val="0"/>
              </a:spcBef>
              <a:spcAft>
                <a:spcPts val="0"/>
              </a:spcAft>
              <a:buSzPts val="1100"/>
              <a:buNone/>
            </a:pPr>
            <a:r>
              <a:t/>
            </a:r>
            <a:endParaRPr sz="1800"/>
          </a:p>
          <a:p>
            <a:pPr indent="0" lvl="0" marL="0" rtl="0" algn="l">
              <a:spcBef>
                <a:spcPts val="0"/>
              </a:spcBef>
              <a:spcAft>
                <a:spcPts val="0"/>
              </a:spcAft>
              <a:buSzPts val="1100"/>
              <a:buNone/>
            </a:pPr>
            <a:r>
              <a:rPr lang="en-US" sz="1800"/>
              <a:t>It acts like a virtual business advisor for future entrepreneurs. </a:t>
            </a:r>
            <a:endParaRPr sz="1800"/>
          </a:p>
          <a:p>
            <a:pPr indent="0" lvl="0" marL="0" marR="0" rtl="0" algn="l">
              <a:lnSpc>
                <a:spcPct val="100000"/>
              </a:lnSpc>
              <a:spcBef>
                <a:spcPts val="0"/>
              </a:spcBef>
              <a:spcAft>
                <a:spcPts val="0"/>
              </a:spcAft>
              <a:buNone/>
            </a:pPr>
            <a:r>
              <a:t/>
            </a:r>
            <a:endParaRPr sz="18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42"/>
          <p:cNvSpPr/>
          <p:nvPr/>
        </p:nvSpPr>
        <p:spPr>
          <a:xfrm>
            <a:off x="1218724" y="420729"/>
            <a:ext cx="6444496" cy="704017"/>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051D3A"/>
              </a:buClr>
              <a:buSzPts val="3500"/>
              <a:buFont typeface="Times New Roman"/>
              <a:buNone/>
            </a:pPr>
            <a:r>
              <a:rPr b="1" i="0" lang="en-US" sz="2400" u="none" cap="none" strike="noStrike">
                <a:solidFill>
                  <a:srgbClr val="000000"/>
                </a:solidFill>
                <a:latin typeface="Arial"/>
                <a:ea typeface="Arial"/>
                <a:cs typeface="Arial"/>
                <a:sym typeface="Arial"/>
              </a:rPr>
              <a:t>Git Hub Link</a:t>
            </a:r>
            <a:endParaRPr b="1" i="0" sz="2400" u="none" cap="none" strike="noStrike">
              <a:solidFill>
                <a:srgbClr val="000000"/>
              </a:solidFill>
              <a:latin typeface="Arial"/>
              <a:ea typeface="Arial"/>
              <a:cs typeface="Arial"/>
              <a:sym typeface="Arial"/>
            </a:endParaRPr>
          </a:p>
        </p:txBody>
      </p:sp>
      <p:sp>
        <p:nvSpPr>
          <p:cNvPr id="145" name="Google Shape;145;p42"/>
          <p:cNvSpPr/>
          <p:nvPr/>
        </p:nvSpPr>
        <p:spPr>
          <a:xfrm>
            <a:off x="1218724" y="1153712"/>
            <a:ext cx="9214580" cy="4277001"/>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Github URL –</a:t>
            </a:r>
            <a:endParaRPr/>
          </a:p>
          <a:p>
            <a:pPr indent="0" lvl="0" marL="0" marR="0" rtl="0" algn="l">
              <a:lnSpc>
                <a:spcPct val="162162"/>
              </a:lnSpc>
              <a:spcBef>
                <a:spcPts val="0"/>
              </a:spcBef>
              <a:spcAft>
                <a:spcPts val="0"/>
              </a:spcAft>
              <a:buNone/>
            </a:pPr>
            <a:r>
              <a:rPr b="1" lang="en-US" sz="1850">
                <a:solidFill>
                  <a:srgbClr val="2B3541"/>
                </a:solidFill>
                <a:latin typeface="Times New Roman"/>
                <a:ea typeface="Times New Roman"/>
                <a:cs typeface="Times New Roman"/>
                <a:sym typeface="Times New Roman"/>
              </a:rPr>
              <a:t>https://github.com/pramilabhagwat1980/Smart-Business-Idea-Generator-Agent-.git</a:t>
            </a:r>
            <a:r>
              <a:rPr b="0" i="0" lang="en-US" sz="1850" u="none" cap="none" strike="noStrike">
                <a:solidFill>
                  <a:srgbClr val="2B3541"/>
                </a:solidFill>
                <a:latin typeface="Times New Roman"/>
                <a:ea typeface="Times New Roman"/>
                <a:cs typeface="Times New Roman"/>
                <a:sym typeface="Times New Roman"/>
              </a:rPr>
              <a:t> </a:t>
            </a:r>
            <a:endParaRPr/>
          </a:p>
          <a:p>
            <a:pPr indent="0" lvl="0" marL="0" marR="0" rtl="0" algn="l">
              <a:lnSpc>
                <a:spcPct val="162162"/>
              </a:lnSpc>
              <a:spcBef>
                <a:spcPts val="0"/>
              </a:spcBef>
              <a:spcAft>
                <a:spcPts val="0"/>
              </a:spcAft>
              <a:buClr>
                <a:srgbClr val="2B3541"/>
              </a:buClr>
              <a:buSzPts val="1850"/>
              <a:buFont typeface="Times New Roman"/>
              <a:buNone/>
            </a:pPr>
            <a:r>
              <a:t/>
            </a:r>
            <a:endParaRPr b="0" i="0" sz="1850" u="none" cap="none" strike="noStrike">
              <a:solidFill>
                <a:srgbClr val="000000"/>
              </a:solidFill>
              <a:latin typeface="Times New Roman"/>
              <a:ea typeface="Times New Roman"/>
              <a:cs typeface="Times New Roman"/>
              <a:sym typeface="Times New Roman"/>
            </a:endParaRPr>
          </a:p>
        </p:txBody>
      </p:sp>
      <p:sp>
        <p:nvSpPr>
          <p:cNvPr id="146" name="Google Shape;146;p42"/>
          <p:cNvSpPr/>
          <p:nvPr/>
        </p:nvSpPr>
        <p:spPr>
          <a:xfrm>
            <a:off x="1218724" y="3360216"/>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47" name="Google Shape;147;p42"/>
          <p:cNvSpPr/>
          <p:nvPr/>
        </p:nvSpPr>
        <p:spPr>
          <a:xfrm>
            <a:off x="1218724" y="4395464"/>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48" name="Google Shape;148;p42"/>
          <p:cNvSpPr/>
          <p:nvPr/>
        </p:nvSpPr>
        <p:spPr>
          <a:xfrm>
            <a:off x="1218724" y="5430713"/>
            <a:ext cx="7468553" cy="383024"/>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43"/>
          <p:cNvSpPr/>
          <p:nvPr/>
        </p:nvSpPr>
        <p:spPr>
          <a:xfrm>
            <a:off x="1218724" y="420729"/>
            <a:ext cx="6444496" cy="704017"/>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051D3A"/>
              </a:buClr>
              <a:buSzPts val="3500"/>
              <a:buFont typeface="Times New Roman"/>
              <a:buNone/>
            </a:pPr>
            <a:r>
              <a:rPr b="1" i="0" lang="en-US" sz="2400" u="none" cap="none" strike="noStrike">
                <a:solidFill>
                  <a:srgbClr val="000000"/>
                </a:solidFill>
                <a:latin typeface="Arial"/>
                <a:ea typeface="Arial"/>
                <a:cs typeface="Arial"/>
                <a:sym typeface="Arial"/>
              </a:rPr>
              <a:t>Future Scope </a:t>
            </a:r>
            <a:endParaRPr b="1" i="0" sz="2400" u="none" cap="none" strike="noStrike">
              <a:solidFill>
                <a:srgbClr val="000000"/>
              </a:solidFill>
              <a:latin typeface="Arial"/>
              <a:ea typeface="Arial"/>
              <a:cs typeface="Arial"/>
              <a:sym typeface="Arial"/>
            </a:endParaRPr>
          </a:p>
        </p:txBody>
      </p:sp>
      <p:sp>
        <p:nvSpPr>
          <p:cNvPr id="154" name="Google Shape;154;p43"/>
          <p:cNvSpPr/>
          <p:nvPr/>
        </p:nvSpPr>
        <p:spPr>
          <a:xfrm>
            <a:off x="1218725" y="1135652"/>
            <a:ext cx="10973400" cy="5215200"/>
          </a:xfrm>
          <a:prstGeom prst="rect">
            <a:avLst/>
          </a:prstGeom>
          <a:noFill/>
          <a:ln>
            <a:noFill/>
          </a:ln>
        </p:spPr>
        <p:txBody>
          <a:bodyPr anchorCtr="0" anchor="t" bIns="0" lIns="0" spcFirstLastPara="1" rIns="0" wrap="square" tIns="0">
            <a:noAutofit/>
          </a:bodyPr>
          <a:lstStyle/>
          <a:p>
            <a:pPr indent="0" lvl="0" marL="0" rtl="0" algn="l">
              <a:lnSpc>
                <a:spcPct val="162162"/>
              </a:lnSpc>
              <a:spcBef>
                <a:spcPts val="0"/>
              </a:spcBef>
              <a:spcAft>
                <a:spcPts val="0"/>
              </a:spcAft>
              <a:buClr>
                <a:schemeClr val="dk1"/>
              </a:buClr>
              <a:buSzPts val="1100"/>
              <a:buFont typeface="Arial"/>
              <a:buNone/>
            </a:pPr>
            <a:r>
              <a:rPr b="1" lang="en-US" sz="1800">
                <a:solidFill>
                  <a:schemeClr val="dk1"/>
                </a:solidFill>
              </a:rPr>
              <a:t>T</a:t>
            </a:r>
            <a:r>
              <a:rPr b="1" lang="en-US" sz="1700">
                <a:solidFill>
                  <a:schemeClr val="dk1"/>
                </a:solidFill>
              </a:rPr>
              <a:t>he </a:t>
            </a:r>
            <a:r>
              <a:rPr b="1" lang="en-US" sz="1700">
                <a:solidFill>
                  <a:schemeClr val="dk1"/>
                </a:solidFill>
              </a:rPr>
              <a:t>Smart Business Idea Generator Agent can be improved by adding more advanced AI features for better business suggestions.</a:t>
            </a:r>
            <a:endParaRPr b="1" sz="1700">
              <a:solidFill>
                <a:schemeClr val="dk1"/>
              </a:solidFill>
            </a:endParaRPr>
          </a:p>
          <a:p>
            <a:pPr indent="0" lvl="0" marL="0" rtl="0" algn="l">
              <a:lnSpc>
                <a:spcPct val="162162"/>
              </a:lnSpc>
              <a:spcBef>
                <a:spcPts val="0"/>
              </a:spcBef>
              <a:spcAft>
                <a:spcPts val="0"/>
              </a:spcAft>
              <a:buClr>
                <a:schemeClr val="dk1"/>
              </a:buClr>
              <a:buSzPts val="1100"/>
              <a:buFont typeface="Arial"/>
              <a:buNone/>
            </a:pPr>
            <a:r>
              <a:rPr b="1" lang="en-US" sz="1700">
                <a:solidFill>
                  <a:schemeClr val="dk1"/>
                </a:solidFill>
              </a:rPr>
              <a:t>It can provide real-time market trend analysis for accurate recommendations.</a:t>
            </a:r>
            <a:endParaRPr b="1" sz="1700">
              <a:solidFill>
                <a:schemeClr val="dk1"/>
              </a:solidFill>
            </a:endParaRPr>
          </a:p>
          <a:p>
            <a:pPr indent="0" lvl="0" marL="0" rtl="0" algn="l">
              <a:lnSpc>
                <a:spcPct val="162162"/>
              </a:lnSpc>
              <a:spcBef>
                <a:spcPts val="0"/>
              </a:spcBef>
              <a:spcAft>
                <a:spcPts val="0"/>
              </a:spcAft>
              <a:buClr>
                <a:schemeClr val="dk1"/>
              </a:buClr>
              <a:buSzPts val="1100"/>
              <a:buFont typeface="Arial"/>
              <a:buNone/>
            </a:pPr>
            <a:r>
              <a:rPr b="1" lang="en-US" sz="1700">
                <a:solidFill>
                  <a:schemeClr val="dk1"/>
                </a:solidFill>
              </a:rPr>
              <a:t>The system can be connected with financial tools to estimate profit and investment needs.</a:t>
            </a:r>
            <a:endParaRPr b="1" sz="1700">
              <a:solidFill>
                <a:schemeClr val="dk1"/>
              </a:solidFill>
            </a:endParaRPr>
          </a:p>
          <a:p>
            <a:pPr indent="0" lvl="0" marL="0" rtl="0" algn="l">
              <a:lnSpc>
                <a:spcPct val="162162"/>
              </a:lnSpc>
              <a:spcBef>
                <a:spcPts val="0"/>
              </a:spcBef>
              <a:spcAft>
                <a:spcPts val="0"/>
              </a:spcAft>
              <a:buClr>
                <a:schemeClr val="dk1"/>
              </a:buClr>
              <a:buSzPts val="1100"/>
              <a:buFont typeface="Arial"/>
              <a:buNone/>
            </a:pPr>
            <a:r>
              <a:rPr b="1" lang="en-US" sz="1700">
                <a:solidFill>
                  <a:schemeClr val="dk1"/>
                </a:solidFill>
              </a:rPr>
              <a:t>It can suggest business ideas based on local market demand and customer behavior.</a:t>
            </a:r>
            <a:endParaRPr b="1" sz="1700">
              <a:solidFill>
                <a:schemeClr val="dk1"/>
              </a:solidFill>
            </a:endParaRPr>
          </a:p>
          <a:p>
            <a:pPr indent="0" lvl="0" marL="0" rtl="0" algn="l">
              <a:lnSpc>
                <a:spcPct val="162162"/>
              </a:lnSpc>
              <a:spcBef>
                <a:spcPts val="0"/>
              </a:spcBef>
              <a:spcAft>
                <a:spcPts val="0"/>
              </a:spcAft>
              <a:buClr>
                <a:schemeClr val="dk1"/>
              </a:buClr>
              <a:buSzPts val="1100"/>
              <a:buFont typeface="Arial"/>
              <a:buNone/>
            </a:pPr>
            <a:r>
              <a:rPr b="1" lang="en-US" sz="1700">
                <a:solidFill>
                  <a:schemeClr val="dk1"/>
                </a:solidFill>
              </a:rPr>
              <a:t>Future versions can include competitor analysis and risk prediction features.</a:t>
            </a:r>
            <a:endParaRPr b="1" sz="1700">
              <a:solidFill>
                <a:schemeClr val="dk1"/>
              </a:solidFill>
            </a:endParaRPr>
          </a:p>
          <a:p>
            <a:pPr indent="0" lvl="0" marL="0" rtl="0" algn="l">
              <a:lnSpc>
                <a:spcPct val="162162"/>
              </a:lnSpc>
              <a:spcBef>
                <a:spcPts val="0"/>
              </a:spcBef>
              <a:spcAft>
                <a:spcPts val="0"/>
              </a:spcAft>
              <a:buClr>
                <a:schemeClr val="dk1"/>
              </a:buClr>
              <a:buSzPts val="1100"/>
              <a:buFont typeface="Arial"/>
              <a:buNone/>
            </a:pPr>
            <a:r>
              <a:rPr b="1" lang="en-US" sz="1700">
                <a:solidFill>
                  <a:schemeClr val="dk1"/>
                </a:solidFill>
              </a:rPr>
              <a:t>The agent can support multiple languages for wider accessibility.</a:t>
            </a:r>
            <a:endParaRPr b="1" sz="1700">
              <a:solidFill>
                <a:schemeClr val="dk1"/>
              </a:solidFill>
            </a:endParaRPr>
          </a:p>
          <a:p>
            <a:pPr indent="0" lvl="0" marL="0" rtl="0" algn="l">
              <a:lnSpc>
                <a:spcPct val="162162"/>
              </a:lnSpc>
              <a:spcBef>
                <a:spcPts val="0"/>
              </a:spcBef>
              <a:spcAft>
                <a:spcPts val="0"/>
              </a:spcAft>
              <a:buClr>
                <a:schemeClr val="dk1"/>
              </a:buClr>
              <a:buSzPts val="1100"/>
              <a:buFont typeface="Arial"/>
              <a:buNone/>
            </a:pPr>
            <a:r>
              <a:rPr b="1" lang="en-US" sz="1700">
                <a:solidFill>
                  <a:schemeClr val="dk1"/>
                </a:solidFill>
              </a:rPr>
              <a:t>It can help users create complete business plans automatically.</a:t>
            </a:r>
            <a:endParaRPr b="1" sz="1700">
              <a:solidFill>
                <a:schemeClr val="dk1"/>
              </a:solidFill>
            </a:endParaRPr>
          </a:p>
          <a:p>
            <a:pPr indent="0" lvl="0" marL="0" rtl="0" algn="l">
              <a:lnSpc>
                <a:spcPct val="162162"/>
              </a:lnSpc>
              <a:spcBef>
                <a:spcPts val="0"/>
              </a:spcBef>
              <a:spcAft>
                <a:spcPts val="0"/>
              </a:spcAft>
              <a:buClr>
                <a:schemeClr val="dk1"/>
              </a:buClr>
              <a:buSzPts val="1100"/>
              <a:buFont typeface="Arial"/>
              <a:buNone/>
            </a:pPr>
            <a:r>
              <a:rPr b="1" lang="en-US" sz="1700">
                <a:solidFill>
                  <a:schemeClr val="dk1"/>
                </a:solidFill>
              </a:rPr>
              <a:t>Integration with platforms like</a:t>
            </a:r>
            <a:r>
              <a:rPr b="1" lang="en-US" sz="1700">
                <a:solidFill>
                  <a:schemeClr val="dk1"/>
                </a:solidFill>
                <a:uFill>
                  <a:noFill/>
                </a:uFill>
                <a:hlinkClick r:id="rId3">
                  <a:extLst>
                    <a:ext uri="{A12FA001-AC4F-418D-AE19-62706E023703}">
                      <ahyp:hlinkClr val="tx"/>
                    </a:ext>
                  </a:extLst>
                </a:hlinkClick>
              </a:rPr>
              <a:t> Google Trends</a:t>
            </a:r>
            <a:r>
              <a:rPr b="1" lang="en-US" sz="1700">
                <a:solidFill>
                  <a:schemeClr val="dk1"/>
                </a:solidFill>
              </a:rPr>
              <a:t> can improve market research.</a:t>
            </a:r>
            <a:endParaRPr b="1" sz="1700">
              <a:solidFill>
                <a:schemeClr val="dk1"/>
              </a:solidFill>
            </a:endParaRPr>
          </a:p>
          <a:p>
            <a:pPr indent="0" lvl="0" marL="0" rtl="0" algn="l">
              <a:lnSpc>
                <a:spcPct val="162162"/>
              </a:lnSpc>
              <a:spcBef>
                <a:spcPts val="0"/>
              </a:spcBef>
              <a:spcAft>
                <a:spcPts val="0"/>
              </a:spcAft>
              <a:buClr>
                <a:schemeClr val="dk1"/>
              </a:buClr>
              <a:buSzPts val="1100"/>
              <a:buFont typeface="Arial"/>
              <a:buNone/>
            </a:pPr>
            <a:r>
              <a:rPr b="1" lang="en-US" sz="1700">
                <a:solidFill>
                  <a:schemeClr val="dk1"/>
                </a:solidFill>
              </a:rPr>
              <a:t>It can guide users in marketing and scaling their business.</a:t>
            </a:r>
            <a:endParaRPr b="1" sz="1700">
              <a:solidFill>
                <a:schemeClr val="dk1"/>
              </a:solidFill>
            </a:endParaRPr>
          </a:p>
          <a:p>
            <a:pPr indent="0" lvl="0" marL="0" marR="0" rtl="0" algn="l">
              <a:lnSpc>
                <a:spcPct val="162162"/>
              </a:lnSpc>
              <a:spcBef>
                <a:spcPts val="0"/>
              </a:spcBef>
              <a:spcAft>
                <a:spcPts val="0"/>
              </a:spcAft>
              <a:buClr>
                <a:srgbClr val="2B3541"/>
              </a:buClr>
              <a:buSzPts val="1850"/>
              <a:buFont typeface="Times New Roman"/>
              <a:buNone/>
            </a:pPr>
            <a:r>
              <a:rPr b="1" lang="en-US" sz="1700">
                <a:solidFill>
                  <a:schemeClr val="dk1"/>
                </a:solidFill>
              </a:rPr>
              <a:t>In the future, it can become a complete virtual business advisor for entrepreneurs.</a:t>
            </a:r>
            <a:r>
              <a:rPr b="1" lang="en-US" sz="1800">
                <a:solidFill>
                  <a:schemeClr val="dk1"/>
                </a:solidFill>
              </a:rPr>
              <a:t> </a:t>
            </a:r>
            <a:endParaRPr b="1" sz="1800">
              <a:solidFill>
                <a:srgbClr val="2B3541"/>
              </a:solidFill>
              <a:latin typeface="Times New Roman"/>
              <a:ea typeface="Times New Roman"/>
              <a:cs typeface="Times New Roman"/>
              <a:sym typeface="Times New Roman"/>
            </a:endParaRPr>
          </a:p>
        </p:txBody>
      </p:sp>
      <p:sp>
        <p:nvSpPr>
          <p:cNvPr id="155" name="Google Shape;155;p43"/>
          <p:cNvSpPr/>
          <p:nvPr/>
        </p:nvSpPr>
        <p:spPr>
          <a:xfrm>
            <a:off x="1218724" y="3360216"/>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56" name="Google Shape;156;p43"/>
          <p:cNvSpPr/>
          <p:nvPr/>
        </p:nvSpPr>
        <p:spPr>
          <a:xfrm>
            <a:off x="1218724" y="5430713"/>
            <a:ext cx="7468553" cy="383024"/>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pic>
        <p:nvPicPr>
          <p:cNvPr id="161" name="Google Shape;161;p20"/>
          <p:cNvPicPr preferRelativeResize="0"/>
          <p:nvPr/>
        </p:nvPicPr>
        <p:blipFill rotWithShape="1">
          <a:blip r:embed="rId3">
            <a:alphaModFix/>
          </a:blip>
          <a:srcRect b="0" l="0" r="0" t="0"/>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2025-07-08T05:06:56Z</dcterms:created>
  <dc:creator>Manda Anirudh</dc:creator>
</cp:coreProperties>
</file>